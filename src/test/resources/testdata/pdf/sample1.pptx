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b="1" i="0" sz="3600">
                <a:solidFill>
                  <a:srgbClr val="FFFFFF"/>
                </a:solidFill>
              </a:rPr>
              <a:t>iLovePDF Automation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0152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b="0" i="0" sz="2000">
                <a:solidFill>
                  <a:srgbClr val="1ABC9C"/>
                </a:solidFill>
              </a:rPr>
              <a:t>Sample PowerPoint Document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445752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b="0" i="0" sz="1400">
                <a:solidFill>
                  <a:srgbClr val="F2F2F2"/>
                </a:solidFill>
              </a:rPr>
              <a:t>Test Data File for PowerPoint to PDF Conversion Tests
TC_PPT2PDF_004 | TC_PPT2PDF_005 | TC_E2E_010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360152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b="0" i="1" sz="1100">
                <a:solidFill>
                  <a:srgbClr val="AAAAAA"/>
                </a:solidFill>
              </a:rPr>
              <a:t>QA Automation Team  •  ilovepdf.com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1430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800">
                <a:solidFill>
                  <a:srgbClr val="FFFFFF"/>
                </a:solidFill>
              </a:rPr>
              <a:t>iLovePDF Automation Framework  |  Test Data File  |  PowerPoint to 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b="0" i="0" sz="800">
                <a:solidFill>
                  <a:srgbClr val="FFFFFF"/>
                </a:solidFill>
              </a:rPr>
              <a:t>Slide 2 / 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640080" cy="6400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b="1" i="0" sz="180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389888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800">
                <a:solidFill>
                  <a:srgbClr val="1F3864"/>
                </a:solidFill>
              </a:rPr>
              <a:t>Introduction &amp; Purpose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77439"/>
            <a:ext cx="640080" cy="6400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468879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b="1" i="0" sz="180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487168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800">
                <a:solidFill>
                  <a:srgbClr val="1F3864"/>
                </a:solidFill>
              </a:rPr>
              <a:t>Framework Architecture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74720"/>
            <a:ext cx="640080" cy="6400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566160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b="1" i="0" sz="180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584448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800">
                <a:solidFill>
                  <a:srgbClr val="1F3864"/>
                </a:solidFill>
              </a:rPr>
              <a:t>Test Case Summary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72000"/>
            <a:ext cx="640080" cy="6400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663440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b="1" i="0" sz="180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81728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800">
                <a:solidFill>
                  <a:srgbClr val="1F3864"/>
                </a:solidFill>
              </a:rPr>
              <a:t>Test Data Requirements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1430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Framework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800">
                <a:solidFill>
                  <a:srgbClr val="FFFFFF"/>
                </a:solidFill>
              </a:rPr>
              <a:t>iLovePDF Automation Framework  |  Test Data File  |  PowerPoint to 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b="0" i="0" sz="800">
                <a:solidFill>
                  <a:srgbClr val="FFFFFF"/>
                </a:solidFill>
              </a:rPr>
              <a:t>Slide 3 /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1" i="0" sz="1400">
                <a:solidFill>
                  <a:srgbClr val="1F3864"/>
                </a:solidFill>
              </a:rPr>
              <a:t>Page Object Model with Helper 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91640"/>
            <a:ext cx="1828800" cy="6858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801368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b="1" i="0" sz="1400">
                <a:solidFill>
                  <a:srgbClr val="FFFFFF"/>
                </a:solidFill>
              </a:rPr>
              <a:t>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18288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300">
                <a:solidFill>
                  <a:srgbClr val="444444"/>
                </a:solidFill>
              </a:rPr>
              <a:t>BaseTest → Regression / Smoke / E2E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97480"/>
            <a:ext cx="182880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807208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b="1" i="0" sz="1400">
                <a:solidFill>
                  <a:srgbClr val="FFFFFF"/>
                </a:solidFill>
              </a:rPr>
              <a:t>Pages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8346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300">
                <a:solidFill>
                  <a:srgbClr val="444444"/>
                </a:solidFill>
              </a:rPr>
              <a:t>BasePage → HomePage, MergePDFPage, 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03320"/>
            <a:ext cx="1828800" cy="6858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813048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b="1" i="0" sz="1400">
                <a:solidFill>
                  <a:srgbClr val="FFFFFF"/>
                </a:solidFill>
              </a:rPr>
              <a:t>Helpers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8404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300">
                <a:solidFill>
                  <a:srgbClr val="444444"/>
                </a:solidFill>
              </a:rPr>
              <a:t>ClickHelper, InputHelper, FileHelper, 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709160"/>
            <a:ext cx="1828800" cy="685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818888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b="1" i="0" sz="1400">
                <a:solidFill>
                  <a:srgbClr val="FFFFFF"/>
                </a:solidFill>
              </a:rPr>
              <a:t>Driver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484632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300">
                <a:solidFill>
                  <a:srgbClr val="444444"/>
                </a:solidFill>
              </a:rPr>
              <a:t>DriverFactory + DriverManager (ThreadLocal)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1430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Test Case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800">
                <a:solidFill>
                  <a:srgbClr val="FFFFFF"/>
                </a:solidFill>
              </a:rPr>
              <a:t>iLovePDF Automation Framework  |  Test Data File  |  PowerPoint to 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b="0" i="0" sz="800">
                <a:solidFill>
                  <a:srgbClr val="FFFFFF"/>
                </a:solidFill>
              </a:rPr>
              <a:t>Slide 4 / 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196596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71600"/>
            <a:ext cx="19202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b="1" i="0" sz="1200">
                <a:solidFill>
                  <a:srgbClr val="FFFFFF"/>
                </a:solidFill>
              </a:rPr>
              <a:t>Suite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1280160"/>
            <a:ext cx="269748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137160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b="1" i="0" sz="1200">
                <a:solidFill>
                  <a:srgbClr val="FFFFFF"/>
                </a:solidFill>
              </a:rPr>
              <a:t>XML File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1280160"/>
            <a:ext cx="224028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1371600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b="1" i="0" sz="1200">
                <a:solidFill>
                  <a:srgbClr val="FFFFFF"/>
                </a:solidFill>
              </a:rPr>
              <a:t>Group Tag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1280160"/>
            <a:ext cx="178308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800" y="1371600"/>
            <a:ext cx="1737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b="1" i="0" sz="1200">
                <a:solidFill>
                  <a:srgbClr val="FFFFFF"/>
                </a:solidFill>
              </a:rPr>
              <a:t>Test Count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783080"/>
            <a:ext cx="1965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1874519"/>
            <a:ext cx="19202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b="0" i="0" sz="1200">
                <a:solidFill>
                  <a:srgbClr val="1F3864"/>
                </a:solidFill>
              </a:rPr>
              <a:t>Smoke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80" y="1783080"/>
            <a:ext cx="2697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1874519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b="0" i="0" sz="1200">
                <a:solidFill>
                  <a:srgbClr val="1F3864"/>
                </a:solidFill>
              </a:rPr>
              <a:t>smoke.xml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80" y="1783080"/>
            <a:ext cx="2240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7800" y="1874519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b="0" i="0" sz="1200">
                <a:solidFill>
                  <a:srgbClr val="1F3864"/>
                </a:solidFill>
              </a:rPr>
              <a:t>smoke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1783080"/>
            <a:ext cx="17830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1874519"/>
            <a:ext cx="1737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b="0" i="0" sz="1200">
                <a:solidFill>
                  <a:srgbClr val="1F3864"/>
                </a:solidFill>
              </a:rPr>
              <a:t>14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286000"/>
            <a:ext cx="196596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377440"/>
            <a:ext cx="19202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b="0" i="0" sz="1200">
                <a:solidFill>
                  <a:srgbClr val="1F3864"/>
                </a:solidFill>
              </a:rPr>
              <a:t>Regression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68880" y="2286000"/>
            <a:ext cx="269748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237744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b="0" i="0" sz="1200">
                <a:solidFill>
                  <a:srgbClr val="1F3864"/>
                </a:solidFill>
              </a:rPr>
              <a:t>regression.xml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12080" y="2286000"/>
            <a:ext cx="224028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57800" y="2377440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b="0" i="0" sz="1200">
                <a:solidFill>
                  <a:srgbClr val="1F3864"/>
                </a:solidFill>
              </a:rPr>
              <a:t>regression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79" y="2286000"/>
            <a:ext cx="178308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43800" y="2377440"/>
            <a:ext cx="1737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b="0" i="0" sz="1200">
                <a:solidFill>
                  <a:srgbClr val="1F3864"/>
                </a:solidFill>
              </a:rPr>
              <a:t>99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788920"/>
            <a:ext cx="1965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2880360"/>
            <a:ext cx="19202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b="0" i="0" sz="1200">
                <a:solidFill>
                  <a:srgbClr val="1F3864"/>
                </a:solidFill>
              </a:rPr>
              <a:t>E2E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8880" y="2788920"/>
            <a:ext cx="2697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14600" y="288036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b="0" i="0" sz="1200">
                <a:solidFill>
                  <a:srgbClr val="1F3864"/>
                </a:solidFill>
              </a:rPr>
              <a:t>e2e.xml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12080" y="2788920"/>
            <a:ext cx="2240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57800" y="2880360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b="0" i="0" sz="1200">
                <a:solidFill>
                  <a:srgbClr val="1F3864"/>
                </a:solidFill>
              </a:rPr>
              <a:t>e2e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79" y="2788920"/>
            <a:ext cx="17830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43800" y="2880360"/>
            <a:ext cx="1737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b="0" i="0" sz="1200">
                <a:solidFill>
                  <a:srgbClr val="1F3864"/>
                </a:solidFill>
              </a:rPr>
              <a:t>16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291840"/>
            <a:ext cx="1965960" cy="5029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3383280"/>
            <a:ext cx="19202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b="1" i="0" sz="120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68880" y="3291840"/>
            <a:ext cx="2697480" cy="5029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14600" y="338328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b="1" i="0" sz="120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12080" y="3291840"/>
            <a:ext cx="2240280" cy="5029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57800" y="3383280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b="1" i="0" sz="1200">
                <a:solidFill>
                  <a:srgbClr val="FFFFFF"/>
                </a:solidFill>
              </a:rPr>
              <a:t>all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8079" y="3291840"/>
            <a:ext cx="1783080" cy="5029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43800" y="3383280"/>
            <a:ext cx="1737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b="1" i="0" sz="1200">
                <a:solidFill>
                  <a:srgbClr val="FFFFFF"/>
                </a:solidFill>
              </a:rPr>
              <a:t>129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1430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Test Data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800">
                <a:solidFill>
                  <a:srgbClr val="FFFFFF"/>
                </a:solidFill>
              </a:rPr>
              <a:t>iLovePDF Automation Framework  |  Test Data File  |  PowerPoint to 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b="0" i="0" sz="800">
                <a:solidFill>
                  <a:srgbClr val="FFFFFF"/>
                </a:solidFill>
              </a:rPr>
              <a:t>Slide 5 /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11430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1" i="0" sz="1300">
                <a:solidFill>
                  <a:srgbClr val="1F3864"/>
                </a:solidFill>
              </a:rPr>
              <a:t>Files required in src/test/resources/testdata/pdf/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91640"/>
            <a:ext cx="73152" cy="2743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9164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1" i="0" sz="1100">
                <a:solidFill>
                  <a:srgbClr val="1ABC9C"/>
                </a:solidFill>
              </a:rPr>
              <a:t>sample1.pdf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691640"/>
            <a:ext cx="8686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100">
                <a:solidFill>
                  <a:srgbClr val="444444"/>
                </a:solidFill>
              </a:rPr>
              <a:t>Primary PDF — Merge, Split, Compress, PDF→* conversions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240280"/>
            <a:ext cx="73152" cy="2743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24028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1" i="0" sz="1100">
                <a:solidFill>
                  <a:srgbClr val="1ABC9C"/>
                </a:solidFill>
              </a:rPr>
              <a:t>sample2.pdf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240280"/>
            <a:ext cx="8686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100">
                <a:solidFill>
                  <a:srgbClr val="444444"/>
                </a:solidFill>
              </a:rPr>
              <a:t>Secondary PDF — two-file merge and boundary tests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788920"/>
            <a:ext cx="73152" cy="2743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78892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1" i="0" sz="1100">
                <a:solidFill>
                  <a:srgbClr val="1ABC9C"/>
                </a:solidFill>
              </a:rPr>
              <a:t>sample3.pdf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788920"/>
            <a:ext cx="8686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100">
                <a:solidFill>
                  <a:srgbClr val="444444"/>
                </a:solidFill>
              </a:rPr>
              <a:t>Third PDF — three-file merge boundary test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337560"/>
            <a:ext cx="73152" cy="2743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33756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1" i="0" sz="1100">
                <a:solidFill>
                  <a:srgbClr val="1ABC9C"/>
                </a:solidFill>
              </a:rPr>
              <a:t>sample1.docx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337560"/>
            <a:ext cx="8686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100">
                <a:solidFill>
                  <a:srgbClr val="444444"/>
                </a:solidFill>
              </a:rPr>
              <a:t>Word document — Word to PDF conversion tests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886200"/>
            <a:ext cx="73152" cy="2743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88620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1" i="0" sz="1100">
                <a:solidFill>
                  <a:srgbClr val="1ABC9C"/>
                </a:solidFill>
              </a:rPr>
              <a:t>sample1.pptx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886200"/>
            <a:ext cx="8686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100">
                <a:solidFill>
                  <a:srgbClr val="444444"/>
                </a:solidFill>
              </a:rPr>
              <a:t>This file — PowerPoint to PDF conversion tests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434840"/>
            <a:ext cx="73152" cy="2743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43484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1" i="0" sz="1100">
                <a:solidFill>
                  <a:srgbClr val="1ABC9C"/>
                </a:solidFill>
              </a:rPr>
              <a:t>sample1.xlsx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4434840"/>
            <a:ext cx="8686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100">
                <a:solidFill>
                  <a:srgbClr val="444444"/>
                </a:solidFill>
              </a:rPr>
              <a:t>Excel spreadsheet — Excel to PDF conversion tests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983479"/>
            <a:ext cx="73152" cy="2743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983479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1" i="0" sz="1100">
                <a:solidFill>
                  <a:srgbClr val="1ABC9C"/>
                </a:solidFill>
              </a:rPr>
              <a:t>sample1.jpg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4983479"/>
            <a:ext cx="8686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100">
                <a:solidFill>
                  <a:srgbClr val="444444"/>
                </a:solidFill>
              </a:rPr>
              <a:t>JPEG image — JPG to PDF conversion tests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532120"/>
            <a:ext cx="73152" cy="2743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53212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1" i="0" sz="1100">
                <a:solidFill>
                  <a:srgbClr val="1ABC9C"/>
                </a:solidFill>
              </a:rPr>
              <a:t>sample2.jpg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5532120"/>
            <a:ext cx="8686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100">
                <a:solidFill>
                  <a:srgbClr val="444444"/>
                </a:solidFill>
              </a:rPr>
              <a:t>Second JPEG — multi-image JPG to PDF boundary 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